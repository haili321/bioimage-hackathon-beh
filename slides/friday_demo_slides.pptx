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164592"/>
            <a:ext cx="1554480" cy="329184"/>
          </a:xfrm>
          <a:prstGeom prst="roundRect">
            <a:avLst>
              <a:gd name="adj" fmla="val 40000"/>
            </a:avLst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60152" y="164592"/>
            <a:ext cx="1554480" cy="329184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ALL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600" b="1">
                <a:solidFill>
                  <a:srgbClr val="2D3748"/>
                </a:solidFill>
                <a:latin typeface="Calibri"/>
              </a:rPr>
              <a:t>BioImage Hackathon BEH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800" b="1">
                <a:solidFill>
                  <a:srgbClr val="D62728"/>
                </a:solidFill>
                <a:latin typeface="Calibri"/>
              </a:rPr>
              <a:t>A point mutation that tries harder and fails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74552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0">
                <a:solidFill>
                  <a:srgbClr val="2D3748"/>
                </a:solidFill>
                <a:latin typeface="Calibri"/>
              </a:rPr>
              <a:t>Cell migration analysis pipeline + cross-batch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0">
                <a:solidFill>
                  <a:srgbClr val="2D3748"/>
                </a:solidFill>
                <a:latin typeface="Calibri"/>
              </a:rPr>
              <a:t>on 60 GFP-Arp2/3 time-lapse recordings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9556" y="4846320"/>
            <a:ext cx="3200400" cy="502920"/>
          </a:xfrm>
          <a:prstGeom prst="roundRect">
            <a:avLst>
              <a:gd name="adj" fmla="val 8000"/>
            </a:avLst>
          </a:prstGeom>
          <a:solidFill>
            <a:srgbClr val="38A16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" y="484632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🧬  Badeer Ummat  ·  biology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4276" y="4846320"/>
            <a:ext cx="3200400" cy="502920"/>
          </a:xfrm>
          <a:prstGeom prst="roundRect">
            <a:avLst>
              <a:gd name="adj" fmla="val 8000"/>
            </a:avLst>
          </a:prstGeom>
          <a:solidFill>
            <a:srgbClr val="3182C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4276" y="484632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🛠  Edward Offord  ·  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68996" y="4846320"/>
            <a:ext cx="3200400" cy="502920"/>
          </a:xfrm>
          <a:prstGeom prst="roundRect">
            <a:avLst>
              <a:gd name="adj" fmla="val 8000"/>
            </a:avLst>
          </a:prstGeom>
          <a:solidFill>
            <a:srgbClr val="D53F8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68996" y="484632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📈  Haili Yuan  ·  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718096"/>
                </a:solidFill>
                <a:latin typeface="Calibri"/>
              </a:rPr>
              <a:t>Warwick CAMDU  ·  2026-04-29 to 05-01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164592"/>
            <a:ext cx="1554480" cy="329184"/>
          </a:xfrm>
          <a:prstGeom prst="roundRect">
            <a:avLst>
              <a:gd name="adj" fmla="val 40000"/>
            </a:avLst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60152" y="164592"/>
            <a:ext cx="1554480" cy="329184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🧬 BADEER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2D3748"/>
                </a:solidFill>
                <a:latin typeface="Calibri"/>
              </a:rPr>
              <a:t>The biology: a gene that coordinates pushing and gripping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Cell migration is a four-step process: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852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2D3748"/>
                </a:solidFill>
                <a:latin typeface="Calibri"/>
              </a:rPr>
              <a:t>1.  Push the front edge forward (lamellipodium).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67128"/>
            <a:ext cx="5852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2D3748"/>
                </a:solidFill>
                <a:latin typeface="Calibri"/>
              </a:rPr>
              <a:t>2.  Anchor the leading edge to the surface.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51176"/>
            <a:ext cx="5852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2D3748"/>
                </a:solidFill>
                <a:latin typeface="Calibri"/>
              </a:rPr>
              <a:t>3.  Generate pulling force.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35224"/>
            <a:ext cx="5852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2D3748"/>
                </a:solidFill>
                <a:latin typeface="Calibri"/>
              </a:rPr>
              <a:t>4.  Release the rear.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5943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Calibri"/>
              </a:rPr>
              <a:t>The gene we perturb coordinates steps 1 and 2: it links protrusion to substrate adhesion. Without it, the cell can still try to push, but the push and the grip stop happening 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5943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Calibri"/>
              </a:rPr>
              <a:t>The marker:  GFP fused to Arp2/3, the protein complex that builds the lamellipodium. Brighter pixels at the cell edge = more push machinery being recruited.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Three conditions, 30 cells: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828800"/>
            <a:ext cx="640080" cy="365760"/>
          </a:xfrm>
          <a:prstGeom prst="roundRect">
            <a:avLst>
              <a:gd name="adj" fmla="val 8000"/>
            </a:avLst>
          </a:prstGeom>
          <a:solidFill>
            <a:srgbClr val="1F77B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82880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1792224"/>
            <a:ext cx="42062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Calibri"/>
              </a:rPr>
              <a:t>wild type. The gene works.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423160"/>
            <a:ext cx="640080" cy="365760"/>
          </a:xfrm>
          <a:prstGeom prst="roundRect">
            <a:avLst>
              <a:gd name="adj" fmla="val 8000"/>
            </a:avLst>
          </a:prstGeom>
          <a:solidFill>
            <a:srgbClr val="FF7F0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42316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KO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386584"/>
            <a:ext cx="42062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Calibri"/>
              </a:rPr>
              <a:t>knock-out. The gene is fully deleted.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017520"/>
            <a:ext cx="640080" cy="365760"/>
          </a:xfrm>
          <a:prstGeom prst="roundRect">
            <a:avLst>
              <a:gd name="adj" fmla="val 8000"/>
            </a:avLst>
          </a:prstGeom>
          <a:solidFill>
            <a:srgbClr val="D6272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01752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KI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980944"/>
            <a:ext cx="42062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Calibri"/>
              </a:rPr>
              <a:t>knock-in. The gene is replaced by a single-amino-acid point-mutation version.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370332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FFFA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794760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D62728"/>
                </a:solidFill>
                <a:latin typeface="Calibri"/>
              </a:rPr>
              <a:t>The question: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160520"/>
            <a:ext cx="47548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Calibri"/>
              </a:rPr>
              <a:t>Does the KI point mutation behave the same as a complete deletion (KO), or does swapping one amino acid produce a phenotype of its own?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212080"/>
            <a:ext cx="5029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  <a:latin typeface="Calibri"/>
              </a:rPr>
              <a:t>2D epifluorescence  ·  0.318 µm/px  ·  60 s/frame  ·  single channel  ·  16-bit  ·  two imaging sessions per condition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164592"/>
            <a:ext cx="1554480" cy="329184"/>
          </a:xfrm>
          <a:prstGeom prst="roundRect">
            <a:avLst>
              <a:gd name="adj" fmla="val 40000"/>
            </a:avLst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60152" y="164592"/>
            <a:ext cx="1554480" cy="329184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🛠 EDWARD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2D3748"/>
                </a:solidFill>
                <a:latin typeface="Calibri"/>
              </a:rPr>
              <a:t>Pipeline journey: 75× reduction in segmentation failures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040880"/>
                <a:gridCol w="2743200"/>
              </a:tblGrid>
              <a:tr h="420624">
                <a:tc>
                  <a:txBody>
                    <a:bodyPr lIns="64008" rIns="64008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changed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Empty mask rate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20624">
                <a:tc>
                  <a:txBody>
                    <a:bodyPr lIns="64008" rIns="64008" tIns="36576" bIns="36576"/>
                    <a:lstStyle/>
                    <a:p>
                      <a:pPr algn="l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Cellpose cyto, raw 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lIns="64008" rIns="64008" tIns="36576" bIns="36576"/>
                    <a:lstStyle/>
                    <a:p>
                      <a:pPr algn="l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cyto3 + 1-99 percentile normalize on every frame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7.9% (high-batch regression)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 lIns="64008" rIns="64008" tIns="36576" bIns="36576"/>
                    <a:lstStyle/>
                    <a:p>
                      <a:pPr algn="l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v3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Adaptive normalize: per-stack p99 detector decides whether to stretch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2.83%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lIns="64008" rIns="64008" tIns="36576" bIns="36576"/>
                    <a:lstStyle/>
                    <a:p>
                      <a:pPr algn="l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fine-tuned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Self-trained cyto3 on 586 filtered v3 outputs (no hand-drawn data)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0.13%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70332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2D3748"/>
                </a:solidFill>
                <a:latin typeface="Calibri"/>
              </a:rPr>
              <a:t>How the self-training works: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2D3748"/>
                </a:solidFill>
                <a:latin typeface="Calibri"/>
              </a:rPr>
              <a:t>1.  Run v3 on all frames.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44568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2D3748"/>
                </a:solidFill>
                <a:latin typeface="Calibri"/>
              </a:rPr>
              <a:t>2.  Filter: keep frames where mask area ≥ 30% of per-cell median AND IoU ≥ 0.5 with previous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28616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2D3748"/>
                </a:solidFill>
                <a:latin typeface="Calibri"/>
              </a:rPr>
              <a:t>3.  Drop the 2 worst files (ko1/4 95% empty, ko1/8 50% empty).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12664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2D3748"/>
                </a:solidFill>
                <a:latin typeface="Calibri"/>
              </a:rPr>
              <a:t>4.  Treat the surviving 586 (frame, mask) pairs as pseudo-ground-truth.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96712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2D3748"/>
                </a:solidFill>
                <a:latin typeface="Calibri"/>
              </a:rPr>
              <a:t>5.  Fine-tune cyto3 for 100 epochs on those pairs.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703320"/>
            <a:ext cx="3931920" cy="77724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374904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400" b="1">
                <a:solidFill>
                  <a:srgbClr val="2D3748"/>
                </a:solidFill>
                <a:latin typeface="Calibri"/>
              </a:rPr>
              <a:t>12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160520"/>
            <a:ext cx="3931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718096"/>
                </a:solidFill>
                <a:latin typeface="Calibri"/>
              </a:rPr>
              <a:t>fine-tune on RTX A5000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617720"/>
            <a:ext cx="3931920" cy="77724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66344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400" b="1">
                <a:solidFill>
                  <a:srgbClr val="2D3748"/>
                </a:solidFill>
                <a:latin typeface="Calibri"/>
              </a:rPr>
              <a:t>10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074920"/>
            <a:ext cx="3931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718096"/>
                </a:solidFill>
                <a:latin typeface="Calibri"/>
              </a:rPr>
              <a:t>re-run inference on 30 cells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5532120"/>
            <a:ext cx="3931920" cy="77724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557784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400" b="1">
                <a:solidFill>
                  <a:srgbClr val="2D3748"/>
                </a:solidFill>
                <a:latin typeface="Calibri"/>
              </a:rPr>
              <a:t>26 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989320"/>
            <a:ext cx="3931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718096"/>
                </a:solidFill>
                <a:latin typeface="Calibri"/>
              </a:rPr>
              <a:t>final weights file (shipped on GitHub)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164592"/>
            <a:ext cx="1554480" cy="329184"/>
          </a:xfrm>
          <a:prstGeom prst="roundRect">
            <a:avLst>
              <a:gd name="adj" fmla="val 40000"/>
            </a:avLst>
          </a:prstGeom>
          <a:solidFill>
            <a:srgbClr val="D5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60152" y="164592"/>
            <a:ext cx="1554480" cy="329184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📈 HAILI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2D3748"/>
                </a:solidFill>
                <a:latin typeface="Calibri"/>
              </a:rPr>
              <a:t>Finding 1: KI cells migrate 35% slower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502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</a:tblGrid>
              <a:tr h="388620">
                <a:tc>
                  <a:txBody>
                    <a:bodyPr lIns="64008" rIns="64008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 speed (µm/min)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388620">
                <a:tc>
                  <a:txBody>
                    <a:bodyPr lIns="64008" rIns="64008" tIns="36576" bIns="36576"/>
                    <a:lstStyle/>
                    <a:p>
                      <a:pPr algn="l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WT (N=10)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1.03 ± 0.33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lIns="64008" rIns="64008" tIns="36576" bIns="36576"/>
                    <a:lstStyle/>
                    <a:p>
                      <a:pPr algn="l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KO (N=10)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1.06 ± 0.29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88620">
                <a:tc>
                  <a:txBody>
                    <a:bodyPr lIns="64008" rIns="64008" tIns="36576" bIns="36576"/>
                    <a:lstStyle/>
                    <a:p>
                      <a:pPr algn="l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KI (N=10)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0.68 ± 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063240"/>
            <a:ext cx="5303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D62728"/>
                </a:solidFill>
                <a:latin typeface="Calibri"/>
              </a:rPr>
              <a:t>Cohen's d:  KI vs WT −1.40,  KI vs KO −1.68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5303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  <a:latin typeface="Calibri"/>
              </a:rPr>
              <a:t>(both very large effects)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5303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Calibri"/>
              </a:rPr>
              <a:t>KO migrates at WT speed. Only KI slows down. The point mutation breaks something the complete deletion does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  <a:latin typeface="Calibri"/>
              </a:rPr>
              <a:t>Two filters that matter: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49240"/>
            <a:ext cx="53035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• Mask-stability filter rejects per-pair frames with IoU &lt; 0.3 or sudden area drops. Caught a fragmentation artefact in wt1/33 that had inflated speed by 5×.
• Persistence capped at 1.0 (geometric upper bound).</a:t>
            </a:r>
          </a:p>
        </p:txBody>
      </p:sp>
      <p:pic>
        <p:nvPicPr>
          <p:cNvPr id="11" name="Picture 10" descr="migration_trajectories_finetu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6314504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26480" y="6035040"/>
            <a:ext cx="58521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718096"/>
                </a:solidFill>
                <a:latin typeface="Calibri"/>
              </a:rPr>
              <a:t>Per-cell trajectories, 30 cells across 6 folders. KI panels (right column) cover noticeably less ground.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164592"/>
            <a:ext cx="1554480" cy="329184"/>
          </a:xfrm>
          <a:prstGeom prst="roundRect">
            <a:avLst>
              <a:gd name="adj" fmla="val 40000"/>
            </a:avLst>
          </a:prstGeom>
          <a:solidFill>
            <a:srgbClr val="D5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60152" y="164592"/>
            <a:ext cx="1554480" cy="329184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📈 HAILI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2D3748"/>
                </a:solidFill>
                <a:latin typeface="Calibri"/>
              </a:rPr>
              <a:t>Finding 2: KI over-polarises Arp2/3 at the leading edge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52120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657600"/>
              </a:tblGrid>
              <a:tr h="388620">
                <a:tc>
                  <a:txBody>
                    <a:bodyPr lIns="64008" rIns="64008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lam / cyto intensity ratio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388620">
                <a:tc>
                  <a:txBody>
                    <a:bodyPr lIns="64008" rIns="64008" tIns="36576" bIns="36576"/>
                    <a:lstStyle/>
                    <a:p>
                      <a:pPr algn="l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1.53 ± 0.29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lIns="64008" rIns="64008" tIns="36576" bIns="36576"/>
                    <a:lstStyle/>
                    <a:p>
                      <a:pPr algn="l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KO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1.47 ± 0.45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88620">
                <a:tc>
                  <a:txBody>
                    <a:bodyPr lIns="64008" rIns="64008" tIns="36576" bIns="36576"/>
                    <a:lstStyle/>
                    <a:p>
                      <a:pPr algn="l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300">
                          <a:solidFill>
                            <a:srgbClr val="2D3748"/>
                          </a:solidFill>
                          <a:latin typeface="Calibri"/>
                        </a:rPr>
                        <a:t>1.83 ± 0.33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063240"/>
            <a:ext cx="5394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D62728"/>
                </a:solidFill>
                <a:latin typeface="Calibri"/>
              </a:rPr>
              <a:t>Cohen's d:  KI vs WT +0.90,  KI vs KO +0.85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5394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  <a:latin typeface="Calibri"/>
              </a:rPr>
              <a:t>(both large effects)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53949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Calibri"/>
              </a:rPr>
              <a:t>Per cell, brighter pixels inside the mask (above the per-frame median) are treated as lamellipodia. KI cells push more Arp2/3 to the edge than WT or KO.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669280" cy="1828800"/>
          </a:xfrm>
          <a:prstGeom prst="roundRect">
            <a:avLst>
              <a:gd name="adj" fmla="val 8000"/>
            </a:avLst>
          </a:prstGeom>
          <a:solidFill>
            <a:srgbClr val="FFFA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0876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D62728"/>
                </a:solidFill>
                <a:latin typeface="Calibri"/>
              </a:rPr>
              <a:t>Combined biology reading: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74520"/>
            <a:ext cx="53035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Calibri"/>
              </a:rPr>
              <a:t>KI cells push the front edge harder (more Arp2/3 polarisation, finding 2) yet move 35% less (finding 1). Effort goes in, locomotion does not come 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383280"/>
            <a:ext cx="56692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Calibri"/>
              </a:rPr>
              <a:t>This is what "broken protrusion-adhesion coordination" predicts: the lamellipodium activates, but the cell cannot anchor or generate traction, so the push wastes energy.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937760"/>
            <a:ext cx="56692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D62728"/>
                </a:solidFill>
                <a:latin typeface="Calibri"/>
              </a:rPr>
              <a:t>Dominant-negative reading: a broken-coordination mutation is functionally MORE costly than completely deleting the gene.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1512" y="164592"/>
            <a:ext cx="1188720" cy="329184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00232" y="164592"/>
            <a:ext cx="1188720" cy="329184"/>
          </a:xfrm>
          <a:prstGeom prst="rect">
            <a:avLst/>
          </a:prstGeom>
          <a:solidFill>
            <a:srgbClr val="D5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11512" y="164592"/>
            <a:ext cx="2377440" cy="329184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EDWARD + HAILI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2D3748"/>
                </a:solidFill>
                <a:latin typeface="Calibri"/>
              </a:rPr>
              <a:t>Same model, fresh batch of 30 cells: pipeline and findings both hold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Calibri"/>
              </a:rPr>
              <a:t>Mid-hackathon a second upload arrived: 30 fresh cells, 5,862 frames, same 6 categories. The fine-tuned model has never seen these cells. We re-ran the entire pipeline (segmentation, centering, migration, lamellipodia) with no retraining and no parameter changes.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10896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54480"/>
                <a:gridCol w="1554480"/>
              </a:tblGrid>
              <a:tr h="365760">
                <a:tc>
                  <a:txBody>
                    <a:bodyPr lIns="64008" rIns="64008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Batch 1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Batch 2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365760">
                <a:tc>
                  <a:txBody>
                    <a:bodyPr lIns="64008" rIns="64008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2D3748"/>
                          </a:solidFill>
                          <a:latin typeface="Calibri"/>
                        </a:rPr>
                        <a:t>Empty-mask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200">
                          <a:solidFill>
                            <a:srgbClr val="2D3748"/>
                          </a:solidFill>
                          <a:latin typeface="Calibri"/>
                        </a:rPr>
                        <a:t>0.13%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200">
                          <a:solidFill>
                            <a:srgbClr val="2D3748"/>
                          </a:solidFill>
                          <a:latin typeface="Calibri"/>
                        </a:rPr>
                        <a:t>1.28%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4008" rIns="64008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2D3748"/>
                          </a:solidFill>
                          <a:latin typeface="Calibri"/>
                        </a:rPr>
                        <a:t>KI migration speed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200">
                          <a:solidFill>
                            <a:srgbClr val="2D3748"/>
                          </a:solidFill>
                          <a:latin typeface="Calibri"/>
                        </a:rPr>
                        <a:t>0.68 ± 0.08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200">
                          <a:solidFill>
                            <a:srgbClr val="2D3748"/>
                          </a:solidFill>
                          <a:latin typeface="Calibri"/>
                        </a:rPr>
                        <a:t>0.72 ± 0.10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 lIns="64008" rIns="64008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2D3748"/>
                          </a:solidFill>
                          <a:latin typeface="Calibri"/>
                        </a:rPr>
                        <a:t>KI lam/cyto 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200">
                          <a:solidFill>
                            <a:srgbClr val="2D3748"/>
                          </a:solidFill>
                          <a:latin typeface="Calibri"/>
                        </a:rPr>
                        <a:t>1.827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200">
                          <a:solidFill>
                            <a:srgbClr val="2D3748"/>
                          </a:solidFill>
                          <a:latin typeface="Calibri"/>
                        </a:rPr>
                        <a:t>1.830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4008" rIns="64008" tIns="36576" bIns="36576"/>
                    <a:lstStyle/>
                    <a:p>
                      <a:pPr algn="l"/>
                      <a:r>
                        <a:rPr sz="1200">
                          <a:solidFill>
                            <a:srgbClr val="2D3748"/>
                          </a:solidFill>
                          <a:latin typeface="Calibri"/>
                        </a:rPr>
                        <a:t>Cohen's d KI vs WT (mig)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200">
                          <a:solidFill>
                            <a:srgbClr val="2D3748"/>
                          </a:solidFill>
                          <a:latin typeface="Calibri"/>
                        </a:rPr>
                        <a:t>−1.40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 lIns="64008" rIns="64008" tIns="36576" bIns="36576"/>
                    <a:lstStyle/>
                    <a:p>
                      <a:pPr algn="ctr"/>
                      <a:r>
                        <a:rPr sz="1200">
                          <a:solidFill>
                            <a:srgbClr val="2D3748"/>
                          </a:solidFill>
                          <a:latin typeface="Calibri"/>
                        </a:rPr>
                        <a:t>−1.22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12064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D62728"/>
                </a:solidFill>
                <a:latin typeface="Calibri"/>
              </a:rPr>
              <a:t>Both findings reproduce on independent cells.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32120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  <a:latin typeface="Calibri"/>
              </a:rPr>
              <a:t>KI lam/cyto means agree within 0.003 across batches. Pipeline + fine-tuned weights generalise; data-processing decisions (adaptive normalize, mask-stability filter, percentile=50 split) carry over without tuning.</a:t>
            </a:r>
          </a:p>
        </p:txBody>
      </p:sp>
      <p:pic>
        <p:nvPicPr>
          <p:cNvPr id="10" name="Picture 9" descr="migration_trajectories_2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6884943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6035040"/>
            <a:ext cx="56692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718096"/>
                </a:solidFill>
                <a:latin typeface="Calibri"/>
              </a:rPr>
              <a:t>Batch 2 trajectories. KI cells (last two panels) again cover noticeably less ground than WT or KO. Same pattern, fresh cells.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164592"/>
            <a:ext cx="1554480" cy="329184"/>
          </a:xfrm>
          <a:prstGeom prst="roundRect">
            <a:avLst>
              <a:gd name="adj" fmla="val 40000"/>
            </a:avLst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60152" y="164592"/>
            <a:ext cx="1554480" cy="329184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🛠 EDWARD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2D3748"/>
                </a:solidFill>
                <a:latin typeface="Calibri"/>
              </a:rPr>
              <a:t>Drop-in pieces for future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017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3182CE"/>
                </a:solidFill>
                <a:latin typeface="Calibri"/>
              </a:rPr>
              <a:t>Adaptive normalize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371600"/>
            <a:ext cx="822960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2D3748"/>
                </a:solidFill>
                <a:latin typeface="Calibri"/>
              </a:rPr>
              <a:t>per-stack p99 detector decides whether to stretch. Fixes low-batch failure without breaking high-batch images. 100% concordance with the dataset's 1/2 folder labels.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3017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3182CE"/>
                </a:solidFill>
                <a:latin typeface="Calibri"/>
              </a:rPr>
              <a:t>Self-training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212848"/>
            <a:ext cx="822960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2D3748"/>
                </a:solidFill>
                <a:latin typeface="Calibri"/>
              </a:rPr>
              <a:t>filter v3 outputs by mask area + IoU, retrain cyto3 on the surviving pairs. No hand-drawn labels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54096"/>
            <a:ext cx="3017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3182CE"/>
                </a:solidFill>
                <a:latin typeface="Calibri"/>
              </a:rPr>
              <a:t>Mask-stability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054096"/>
            <a:ext cx="822960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2D3748"/>
                </a:solidFill>
                <a:latin typeface="Calibri"/>
              </a:rPr>
              <a:t>rejects per-pair frames where IoU &lt; 0.3 or area drops below 30% of per-cell median. Caught the wt1/33 fragmentation artefact.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95344"/>
            <a:ext cx="3017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3182CE"/>
                </a:solidFill>
                <a:latin typeface="Calibri"/>
              </a:rPr>
              <a:t>Generic compare_masks.py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95344"/>
            <a:ext cx="822960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2D3748"/>
                </a:solidFill>
                <a:latin typeface="Calibri"/>
              </a:rPr>
              <a:t>IoU, Dice, boundary IoU, Hausdorff 95, centroid distance. Drop in any reference masks (hand-drawn or otherwise).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36592"/>
            <a:ext cx="3017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3182CE"/>
                </a:solidFill>
                <a:latin typeface="Calibri"/>
              </a:rPr>
              <a:t>Generic plot_trajectories.py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736592"/>
            <a:ext cx="822960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2D3748"/>
                </a:solidFill>
                <a:latin typeface="Calibri"/>
              </a:rPr>
              <a:t>2×3 panel figure from any trajectories.json. Same script ran on batch 1 and batch 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  <a:latin typeface="Calibri"/>
              </a:rPr>
              <a:t>Reproducible: all code, manifests, processed CSV outputs, and the 26 MB fine-tuned weights are in the public repo.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718096"/>
                </a:solidFill>
                <a:latin typeface="Calibri"/>
              </a:rPr>
              <a:t>github.com/Haili321/bioimage-hackathon-beh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164592"/>
            <a:ext cx="1554480" cy="329184"/>
          </a:xfrm>
          <a:prstGeom prst="roundRect">
            <a:avLst>
              <a:gd name="adj" fmla="val 40000"/>
            </a:avLst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60152" y="164592"/>
            <a:ext cx="1554480" cy="329184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ALL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2D3748"/>
                </a:solidFill>
                <a:latin typeface="Calibri"/>
              </a:rPr>
              <a:t>Honest caveats +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Caveats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Calibri"/>
              </a:rPr>
              <a:t>Sample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691640"/>
            <a:ext cx="36576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N=10 cells per condition per batch. Effect sizes are large but a formal mixed-effects ANOVA with batch as a random effect is still pending.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Calibri"/>
              </a:rPr>
              <a:t>No hand-drawn ground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651760"/>
            <a:ext cx="36576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the fine-tuned model learned the v3 consensus shape, not a real reference. compare_masks.py is ready to swap in real annotations.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Calibri"/>
              </a:rPr>
              <a:t>One stubborn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611880"/>
            <a:ext cx="36576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ko1/7 still failed at 28.3% empty (30 of 106 frames) on the fresh batch. Worth a manual look: bad recording, or genuine phenotype?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Calibri"/>
              </a:rPr>
              <a:t>Photobleaching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4572000"/>
            <a:ext cx="36576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not corrected. Absolute intensities should be read with caution. Ratios (lam/cyto) are partially robust because both populations decay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3258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D3748"/>
                </a:solidFill>
                <a:latin typeface="Calibri"/>
              </a:rPr>
              <a:t>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69164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38A169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691640"/>
            <a:ext cx="5120640" cy="960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Mixed-effects model with batch as random effect (deliver p-values, not just effect sizes).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5176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38A169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651760"/>
            <a:ext cx="5120640" cy="960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Photobleaching correction for absolute intensity.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61188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38A169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611880"/>
            <a:ext cx="5120640" cy="960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Three-layer split (body / transition / lamellipodia) if biology team wants finer granularity.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57200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38A169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572000"/>
            <a:ext cx="5120640" cy="960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Calibri"/>
              </a:rPr>
              <a:t>napari interactive viewer for the biology team to browse cells frame-by-frame.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164592"/>
            <a:ext cx="1554480" cy="329184"/>
          </a:xfrm>
          <a:prstGeom prst="roundRect">
            <a:avLst>
              <a:gd name="adj" fmla="val 40000"/>
            </a:avLst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60152" y="164592"/>
            <a:ext cx="1554480" cy="329184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ALL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6000" b="1">
                <a:solidFill>
                  <a:srgbClr val="2D3748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455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0">
                <a:solidFill>
                  <a:srgbClr val="2D3748"/>
                </a:solidFill>
                <a:latin typeface="Calibri"/>
              </a:rPr>
              <a:t>Briefing:  www.dcs.warwick.ac.uk/~u1898019/hackathon-beh/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0">
                <a:solidFill>
                  <a:srgbClr val="2D3748"/>
                </a:solidFill>
                <a:latin typeface="Calibri"/>
              </a:rPr>
              <a:t>GitHub:  github.com/Haili321/bioimage-hackathon-beh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1127455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718096"/>
                </a:solidFill>
                <a:latin typeface="Calibri"/>
              </a:rPr>
              <a:t>17+ commits  ·  3 contributors  ·  fine-tuned weights and slides 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127455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400" b="1">
                <a:solidFill>
                  <a:srgbClr val="D62728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